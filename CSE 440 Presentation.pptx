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" charset="1" panose="020B0503030501040103"/>
      <p:regular r:id="rId15"/>
    </p:embeddedFont>
    <p:embeddedFont>
      <p:font typeface="Canva Sans Bold" charset="1" panose="020B0803030501040103"/>
      <p:regular r:id="rId16"/>
    </p:embeddedFont>
    <p:embeddedFont>
      <p:font typeface="Canva Sans Bold Italics" charset="1" panose="020B0803030501040103"/>
      <p:regular r:id="rId17"/>
    </p:embeddedFont>
    <p:embeddedFont>
      <p:font typeface="Open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434" t="0" r="-975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60134" y="1741809"/>
            <a:ext cx="9073459" cy="318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  <a:spcBef>
                <a:spcPct val="0"/>
              </a:spcBef>
            </a:pPr>
            <a:r>
              <a:rPr lang="en-US" sz="30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DESIGN AN AUTONOMOUS ROBOT FOR INDOOR NAVIGATION USING A* SEARCH FOR PATH PLANNING WHILE AVOIDING OBSTACLES . EQUIPPED WITH SENSORS IT DYNAMICALLY UPDATES ITS ENVIRONMENT KNOWLEDGE ENSURING REAL TIME PATH ADJUSTMENTS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77741"/>
            <a:ext cx="4277267" cy="521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6"/>
              </a:lnSpc>
              <a:spcBef>
                <a:spcPct val="0"/>
              </a:spcBef>
            </a:pPr>
            <a:r>
              <a:rPr lang="en-US" b="true" sz="310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NAME: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6803" y="6178440"/>
            <a:ext cx="7278487" cy="236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6"/>
              </a:lnSpc>
            </a:pPr>
            <a:r>
              <a:rPr lang="en-US" sz="27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GROUP MEMBERS </a:t>
            </a:r>
          </a:p>
          <a:p>
            <a:pPr algn="ctr" marL="583923" indent="-291961" lvl="1">
              <a:lnSpc>
                <a:spcPts val="3786"/>
              </a:lnSpc>
              <a:buAutoNum type="arabicPeriod" startAt="1"/>
            </a:pPr>
            <a:r>
              <a:rPr lang="en-US" sz="27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AHMED ZULKAR NAYEEN - 2121592642</a:t>
            </a:r>
          </a:p>
          <a:p>
            <a:pPr algn="ctr" marL="583923" indent="-291961" lvl="1">
              <a:lnSpc>
                <a:spcPts val="3786"/>
              </a:lnSpc>
              <a:buAutoNum type="arabicPeriod" startAt="1"/>
            </a:pPr>
            <a:r>
              <a:rPr lang="en-US" sz="27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NUSRAT JAHAN RIMA-2122210642</a:t>
            </a:r>
          </a:p>
          <a:p>
            <a:pPr algn="ctr" marL="583923" indent="-291961" lvl="1">
              <a:lnSpc>
                <a:spcPts val="3786"/>
              </a:lnSpc>
              <a:buAutoNum type="arabicPeriod" startAt="1"/>
            </a:pPr>
            <a:r>
              <a:rPr lang="en-US" sz="27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SANJIDUL ISLAM-2022394642 </a:t>
            </a:r>
          </a:p>
          <a:p>
            <a:pPr algn="ctr" marL="583923" indent="-291961" lvl="1">
              <a:lnSpc>
                <a:spcPts val="3786"/>
              </a:lnSpc>
              <a:spcBef>
                <a:spcPct val="0"/>
              </a:spcBef>
              <a:buAutoNum type="arabicPeriod" startAt="1"/>
            </a:pPr>
            <a:r>
              <a:rPr lang="en-US" sz="27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AKASH MITRA-2011375042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39756" y="5560136"/>
            <a:ext cx="2066211" cy="431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  <a:spcBef>
                <a:spcPct val="0"/>
              </a:spcBef>
            </a:pPr>
            <a:r>
              <a:rPr lang="en-US" sz="25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GROUP NO 6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479195"/>
            <a:ext cx="422866" cy="244494"/>
          </a:xfrm>
          <a:custGeom>
            <a:avLst/>
            <a:gdLst/>
            <a:ahLst/>
            <a:cxnLst/>
            <a:rect r="r" b="b" t="t" l="l"/>
            <a:pathLst>
              <a:path h="244494" w="422866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063054" y="8723599"/>
            <a:ext cx="224946" cy="534701"/>
            <a:chOff x="0" y="0"/>
            <a:chExt cx="59245" cy="140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245" cy="140827"/>
            </a:xfrm>
            <a:custGeom>
              <a:avLst/>
              <a:gdLst/>
              <a:ahLst/>
              <a:cxnLst/>
              <a:rect r="r" b="b" t="t" l="l"/>
              <a:pathLst>
                <a:path h="140827" w="59245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9245" cy="18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63054" y="8188899"/>
            <a:ext cx="224946" cy="534701"/>
            <a:chOff x="0" y="0"/>
            <a:chExt cx="59245" cy="1408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245" cy="140827"/>
            </a:xfrm>
            <a:custGeom>
              <a:avLst/>
              <a:gdLst/>
              <a:ahLst/>
              <a:cxnLst/>
              <a:rect r="r" b="b" t="t" l="l"/>
              <a:pathLst>
                <a:path h="140827" w="59245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9245" cy="18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1028700"/>
            <a:ext cx="5177134" cy="5177134"/>
            <a:chOff x="0" y="0"/>
            <a:chExt cx="1363525" cy="13635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3525" cy="1363525"/>
            </a:xfrm>
            <a:custGeom>
              <a:avLst/>
              <a:gdLst/>
              <a:ahLst/>
              <a:cxnLst/>
              <a:rect r="r" b="b" t="t" l="l"/>
              <a:pathLst>
                <a:path h="1363525" w="1363525">
                  <a:moveTo>
                    <a:pt x="0" y="0"/>
                  </a:moveTo>
                  <a:lnTo>
                    <a:pt x="1363525" y="0"/>
                  </a:lnTo>
                  <a:lnTo>
                    <a:pt x="1363525" y="1363525"/>
                  </a:lnTo>
                  <a:lnTo>
                    <a:pt x="0" y="1363525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63525" cy="141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07032" y="1889394"/>
            <a:ext cx="8397606" cy="8397606"/>
            <a:chOff x="0" y="0"/>
            <a:chExt cx="11196808" cy="11196808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4"/>
            <a:srcRect l="20564" t="0" r="23185" b="0"/>
            <a:stretch>
              <a:fillRect/>
            </a:stretch>
          </p:blipFill>
          <p:spPr>
            <a:xfrm flipH="false" flipV="false">
              <a:off x="0" y="0"/>
              <a:ext cx="11196808" cy="11196808"/>
            </a:xfrm>
            <a:prstGeom prst="rect">
              <a:avLst/>
            </a:prstGeom>
          </p:spPr>
        </p:pic>
      </p:grpSp>
      <p:sp>
        <p:nvSpPr>
          <p:cNvPr name="TextBox 14" id="14"/>
          <p:cNvSpPr txBox="true"/>
          <p:nvPr/>
        </p:nvSpPr>
        <p:spPr>
          <a:xfrm rot="0">
            <a:off x="10763158" y="1832244"/>
            <a:ext cx="6496142" cy="639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OBJECTIVES</a:t>
            </a:r>
          </a:p>
          <a:p>
            <a:pPr algn="l" marL="558682" indent="-279341" lvl="1">
              <a:lnSpc>
                <a:spcPts val="3622"/>
              </a:lnSpc>
              <a:buFont typeface="Arial"/>
              <a:buChar char="•"/>
            </a:pPr>
            <a:r>
              <a:rPr lang="en-US" b="true" sz="25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Demystify Algorithms:</a:t>
            </a:r>
            <a:r>
              <a:rPr lang="en-US" sz="25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Transform abstract logic into observable patterns.</a:t>
            </a:r>
          </a:p>
          <a:p>
            <a:pPr algn="l" marL="558682" indent="-279341" lvl="1">
              <a:lnSpc>
                <a:spcPts val="3622"/>
              </a:lnSpc>
              <a:buFont typeface="Arial"/>
              <a:buChar char="•"/>
            </a:pPr>
            <a:r>
              <a:rPr lang="en-US" b="true" sz="25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 Scaffolding:</a:t>
            </a:r>
            <a:r>
              <a:rPr lang="en-US" sz="25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Demonstrate the relationship between heuristic exploration and path optimality.</a:t>
            </a:r>
          </a:p>
          <a:p>
            <a:pPr algn="l" marL="558682" indent="-279341" lvl="1">
              <a:lnSpc>
                <a:spcPts val="3622"/>
              </a:lnSpc>
              <a:buFont typeface="Arial"/>
              <a:buChar char="•"/>
            </a:pPr>
            <a:r>
              <a:rPr lang="en-US" b="true" sz="25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Interactive Learning:</a:t>
            </a:r>
            <a:r>
              <a:rPr lang="en-US" sz="25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Enable users to construct edge-case scenarios (mazes/traps).</a:t>
            </a:r>
          </a:p>
          <a:p>
            <a:pPr algn="l">
              <a:lnSpc>
                <a:spcPts val="3622"/>
              </a:lnSpc>
              <a:spcBef>
                <a:spcPct val="0"/>
              </a:spcBef>
            </a:pPr>
            <a:r>
              <a:rPr lang="en-US" b="true" sz="25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Demonstration:</a:t>
            </a:r>
            <a:r>
              <a:rPr lang="en-US" sz="25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Showcase high-performance scientific computing in Python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63054" y="8188899"/>
            <a:ext cx="224946" cy="534701"/>
            <a:chOff x="0" y="0"/>
            <a:chExt cx="59245" cy="1408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245" cy="140827"/>
            </a:xfrm>
            <a:custGeom>
              <a:avLst/>
              <a:gdLst/>
              <a:ahLst/>
              <a:cxnLst/>
              <a:rect r="r" b="b" t="t" l="l"/>
              <a:pathLst>
                <a:path h="140827" w="59245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9245" cy="18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3320147"/>
            <a:ext cx="4821606" cy="2105822"/>
          </a:xfrm>
          <a:custGeom>
            <a:avLst/>
            <a:gdLst/>
            <a:ahLst/>
            <a:cxnLst/>
            <a:rect r="r" b="b" t="t" l="l"/>
            <a:pathLst>
              <a:path h="2105822" w="4821606">
                <a:moveTo>
                  <a:pt x="0" y="0"/>
                </a:moveTo>
                <a:lnTo>
                  <a:pt x="4821606" y="0"/>
                </a:lnTo>
                <a:lnTo>
                  <a:pt x="4821606" y="2105821"/>
                </a:lnTo>
                <a:lnTo>
                  <a:pt x="0" y="2105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38191" y="1668854"/>
            <a:ext cx="11169180" cy="67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b="true" sz="352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THE A * ALGORITHM ENGINE</a:t>
            </a:r>
          </a:p>
          <a:p>
            <a:pPr algn="l" marL="762066" indent="-381033" lvl="1">
              <a:lnSpc>
                <a:spcPts val="4941"/>
              </a:lnSpc>
              <a:buFont typeface="Arial"/>
              <a:buChar char="•"/>
            </a:pPr>
            <a:r>
              <a:rPr lang="en-US" b="true" sz="35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Equation:</a:t>
            </a:r>
            <a:r>
              <a:rPr lang="en-US" sz="3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f(n) = g(n) + h(n)</a:t>
            </a:r>
          </a:p>
          <a:p>
            <a:pPr algn="l" marL="762066" indent="-381033" lvl="1">
              <a:lnSpc>
                <a:spcPts val="4941"/>
              </a:lnSpc>
              <a:buFont typeface="Arial"/>
              <a:buChar char="•"/>
            </a:pPr>
            <a:r>
              <a:rPr lang="en-US" sz="3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g(n): Exact accumulated cost from Start to node n</a:t>
            </a:r>
          </a:p>
          <a:p>
            <a:pPr algn="l" marL="762066" indent="-381033" lvl="1">
              <a:lnSpc>
                <a:spcPts val="4941"/>
              </a:lnSpc>
              <a:buFont typeface="Arial"/>
              <a:buChar char="•"/>
            </a:pPr>
            <a:r>
              <a:rPr lang="en-US" sz="3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h(n): Heuristic estimated cost from node n to Goal.</a:t>
            </a:r>
          </a:p>
          <a:p>
            <a:pPr algn="l" marL="762066" indent="-381033" lvl="1">
              <a:lnSpc>
                <a:spcPts val="4941"/>
              </a:lnSpc>
              <a:buFont typeface="Arial"/>
              <a:buChar char="•"/>
            </a:pPr>
            <a:r>
              <a:rPr lang="en-US" b="true" sz="35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Optimization:</a:t>
            </a:r>
            <a:r>
              <a:rPr lang="en-US" sz="3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Uses a Binary Heap Priority Queue for O(log N) node retrieval.</a:t>
            </a:r>
          </a:p>
          <a:p>
            <a:pPr algn="l" marL="762066" indent="-381033" lvl="1">
              <a:lnSpc>
                <a:spcPts val="4941"/>
              </a:lnSpc>
              <a:buFont typeface="Arial"/>
              <a:buChar char="•"/>
            </a:pPr>
            <a:r>
              <a:rPr lang="en-US" b="true" sz="35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Guarantee:</a:t>
            </a:r>
            <a:r>
              <a:rPr lang="en-US" sz="3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Returns the mathematically optimal path when h(n) is admissible.</a:t>
            </a:r>
          </a:p>
          <a:p>
            <a:pPr algn="l">
              <a:lnSpc>
                <a:spcPts val="494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3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6824" y="2405250"/>
            <a:ext cx="5770118" cy="4619866"/>
          </a:xfrm>
          <a:custGeom>
            <a:avLst/>
            <a:gdLst/>
            <a:ahLst/>
            <a:cxnLst/>
            <a:rect r="r" b="b" t="t" l="l"/>
            <a:pathLst>
              <a:path h="4619866" w="5770118">
                <a:moveTo>
                  <a:pt x="0" y="0"/>
                </a:moveTo>
                <a:lnTo>
                  <a:pt x="5770119" y="0"/>
                </a:lnTo>
                <a:lnTo>
                  <a:pt x="5770119" y="4619866"/>
                </a:lnTo>
                <a:lnTo>
                  <a:pt x="0" y="4619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52553" y="962579"/>
            <a:ext cx="9831864" cy="741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16"/>
              </a:lnSpc>
            </a:pPr>
            <a:r>
              <a:rPr lang="en-US" sz="32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HEURISTICS &amp; TOPOLOGY</a:t>
            </a:r>
          </a:p>
          <a:p>
            <a:pPr algn="just" marL="696548" indent="-348274" lvl="1">
              <a:lnSpc>
                <a:spcPts val="4516"/>
              </a:lnSpc>
              <a:buFont typeface="Arial"/>
              <a:buChar char="•"/>
            </a:pPr>
            <a:r>
              <a:rPr lang="en-US" sz="32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GRID STRUCTURE: 8-CONNECTED GRAPH (MOORE NEIGHBORHOOD).</a:t>
            </a:r>
          </a:p>
          <a:p>
            <a:pPr algn="just" marL="696548" indent="-348274" lvl="1">
              <a:lnSpc>
                <a:spcPts val="4516"/>
              </a:lnSpc>
              <a:buFont typeface="Arial"/>
              <a:buChar char="•"/>
            </a:pPr>
            <a:r>
              <a:rPr lang="en-US" sz="32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HEURISTIC: EUCLIDEAN DISTANCE (SQRT(DELTA X^2 + DELTA Y^2)).</a:t>
            </a:r>
          </a:p>
          <a:p>
            <a:pPr algn="just" marL="696548" indent="-348274" lvl="1">
              <a:lnSpc>
                <a:spcPts val="4516"/>
              </a:lnSpc>
              <a:buFont typeface="Arial"/>
              <a:buChar char="•"/>
            </a:pPr>
            <a:r>
              <a:rPr lang="en-US" sz="32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SERVES AS THE "STRAIGHT LINE" LOWER BOUND.</a:t>
            </a:r>
          </a:p>
          <a:p>
            <a:pPr algn="just" marL="696548" indent="-348274" lvl="1">
              <a:lnSpc>
                <a:spcPts val="4516"/>
              </a:lnSpc>
              <a:buFont typeface="Arial"/>
              <a:buChar char="•"/>
            </a:pPr>
            <a:r>
              <a:rPr lang="en-US" sz="32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GUARANTEES ADMISSIBILITY (NEVER OVERESTIMATES).</a:t>
            </a:r>
          </a:p>
          <a:p>
            <a:pPr algn="just" marL="696548" indent="-348274" lvl="1">
              <a:lnSpc>
                <a:spcPts val="4516"/>
              </a:lnSpc>
              <a:buFont typeface="Arial"/>
              <a:buChar char="•"/>
            </a:pPr>
            <a:r>
              <a:rPr lang="en-US" sz="32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MOVEMENT COSTS:</a:t>
            </a:r>
          </a:p>
          <a:p>
            <a:pPr algn="just" marL="696548" indent="-348274" lvl="1">
              <a:lnSpc>
                <a:spcPts val="4516"/>
              </a:lnSpc>
              <a:buFont typeface="Arial"/>
              <a:buChar char="•"/>
            </a:pPr>
            <a:r>
              <a:rPr lang="en-US" sz="32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ORTHOGONAL: 1.0</a:t>
            </a:r>
          </a:p>
          <a:p>
            <a:pPr algn="just" marL="696548" indent="-348274" lvl="1">
              <a:lnSpc>
                <a:spcPts val="4516"/>
              </a:lnSpc>
              <a:buFont typeface="Arial"/>
              <a:buChar char="•"/>
            </a:pPr>
            <a:r>
              <a:rPr lang="en-US" sz="32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DIAGONAL: SQRT(2) APPROX 1.414</a:t>
            </a:r>
          </a:p>
          <a:p>
            <a:pPr algn="just">
              <a:lnSpc>
                <a:spcPts val="45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63054" y="8723599"/>
            <a:ext cx="224946" cy="534701"/>
            <a:chOff x="0" y="0"/>
            <a:chExt cx="59245" cy="1408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245" cy="140827"/>
            </a:xfrm>
            <a:custGeom>
              <a:avLst/>
              <a:gdLst/>
              <a:ahLst/>
              <a:cxnLst/>
              <a:rect r="r" b="b" t="t" l="l"/>
              <a:pathLst>
                <a:path h="140827" w="59245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9245" cy="18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63054" y="8188899"/>
            <a:ext cx="224946" cy="534701"/>
            <a:chOff x="0" y="0"/>
            <a:chExt cx="59245" cy="140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245" cy="140827"/>
            </a:xfrm>
            <a:custGeom>
              <a:avLst/>
              <a:gdLst/>
              <a:ahLst/>
              <a:cxnLst/>
              <a:rect r="r" b="b" t="t" l="l"/>
              <a:pathLst>
                <a:path h="140827" w="59245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9245" cy="18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414782" y="2422220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2655288" y="723688"/>
            <a:ext cx="4604012" cy="5043721"/>
          </a:xfrm>
          <a:custGeom>
            <a:avLst/>
            <a:gdLst/>
            <a:ahLst/>
            <a:cxnLst/>
            <a:rect r="r" b="b" t="t" l="l"/>
            <a:pathLst>
              <a:path h="5043721" w="4604012">
                <a:moveTo>
                  <a:pt x="4604012" y="0"/>
                </a:moveTo>
                <a:lnTo>
                  <a:pt x="0" y="0"/>
                </a:lnTo>
                <a:lnTo>
                  <a:pt x="0" y="5043721"/>
                </a:lnTo>
                <a:lnTo>
                  <a:pt x="4604012" y="5043721"/>
                </a:lnTo>
                <a:lnTo>
                  <a:pt x="460401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51393" y="1826298"/>
            <a:ext cx="11038239" cy="716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09"/>
              </a:lnSpc>
            </a:pPr>
            <a:r>
              <a:rPr lang="en-US" b="true" sz="33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TECHNOLOGY STACK</a:t>
            </a:r>
          </a:p>
          <a:p>
            <a:pPr algn="just" marL="726256" indent="-363128" lvl="1">
              <a:lnSpc>
                <a:spcPts val="4709"/>
              </a:lnSpc>
              <a:buFont typeface="Arial"/>
              <a:buChar char="•"/>
            </a:pPr>
            <a:r>
              <a:rPr lang="en-US" b="true" sz="33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Language:</a:t>
            </a:r>
            <a:r>
              <a:rPr lang="en-US" sz="33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Python</a:t>
            </a:r>
          </a:p>
          <a:p>
            <a:pPr algn="just" marL="726256" indent="-363128" lvl="1">
              <a:lnSpc>
                <a:spcPts val="4709"/>
              </a:lnSpc>
              <a:buFont typeface="Arial"/>
              <a:buChar char="•"/>
            </a:pPr>
            <a:r>
              <a:rPr lang="en-US" b="true" sz="33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NumPy:</a:t>
            </a:r>
            <a:r>
              <a:rPr lang="en-US" sz="33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Handles the maze as a memory-efficient binary matrix (0 = Free, 1 = Obstacle).</a:t>
            </a:r>
          </a:p>
          <a:p>
            <a:pPr algn="just" marL="726256" indent="-363128" lvl="1">
              <a:lnSpc>
                <a:spcPts val="4709"/>
              </a:lnSpc>
              <a:buFont typeface="Arial"/>
              <a:buChar char="•"/>
            </a:pPr>
            <a:r>
              <a:rPr lang="en-US" b="true" sz="33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Matplotlib:</a:t>
            </a:r>
          </a:p>
          <a:p>
            <a:pPr algn="just" marL="726256" indent="-363128" lvl="1">
              <a:lnSpc>
                <a:spcPts val="4709"/>
              </a:lnSpc>
              <a:buFont typeface="Arial"/>
              <a:buChar char="•"/>
            </a:pPr>
            <a:r>
              <a:rPr lang="en-US" sz="33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imshow: Renders the grid state.</a:t>
            </a:r>
          </a:p>
          <a:p>
            <a:pPr algn="just" marL="726256" indent="-363128" lvl="1">
              <a:lnSpc>
                <a:spcPts val="4709"/>
              </a:lnSpc>
              <a:buFont typeface="Arial"/>
              <a:buChar char="•"/>
            </a:pPr>
            <a:r>
              <a:rPr lang="en-US" sz="33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FuncAnimation: Visualizes the step-by-step search process.</a:t>
            </a:r>
          </a:p>
          <a:p>
            <a:pPr algn="just" marL="726256" indent="-363128" lvl="1">
              <a:lnSpc>
                <a:spcPts val="4709"/>
              </a:lnSpc>
              <a:buFont typeface="Arial"/>
              <a:buChar char="•"/>
            </a:pPr>
            <a:r>
              <a:rPr lang="en-US" sz="33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Event Handling: Captures mouse inputs for drawing walls.</a:t>
            </a:r>
          </a:p>
          <a:p>
            <a:pPr algn="just">
              <a:lnSpc>
                <a:spcPts val="47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479195"/>
            <a:ext cx="422866" cy="244494"/>
          </a:xfrm>
          <a:custGeom>
            <a:avLst/>
            <a:gdLst/>
            <a:ahLst/>
            <a:cxnLst/>
            <a:rect r="r" b="b" t="t" l="l"/>
            <a:pathLst>
              <a:path h="244494" w="422866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063054" y="8723599"/>
            <a:ext cx="224946" cy="534701"/>
            <a:chOff x="0" y="0"/>
            <a:chExt cx="59245" cy="140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245" cy="140827"/>
            </a:xfrm>
            <a:custGeom>
              <a:avLst/>
              <a:gdLst/>
              <a:ahLst/>
              <a:cxnLst/>
              <a:rect r="r" b="b" t="t" l="l"/>
              <a:pathLst>
                <a:path h="140827" w="59245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9245" cy="18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63054" y="8188899"/>
            <a:ext cx="224946" cy="534701"/>
            <a:chOff x="0" y="0"/>
            <a:chExt cx="59245" cy="1408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245" cy="140827"/>
            </a:xfrm>
            <a:custGeom>
              <a:avLst/>
              <a:gdLst/>
              <a:ahLst/>
              <a:cxnLst/>
              <a:rect r="r" b="b" t="t" l="l"/>
              <a:pathLst>
                <a:path h="140827" w="59245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9245" cy="18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174134" y="4025812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39238" y="4920356"/>
            <a:ext cx="9525" cy="39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139238" y="4920356"/>
            <a:ext cx="9525" cy="39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6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33988" y="2157429"/>
            <a:ext cx="14680162" cy="554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7"/>
              </a:lnSpc>
            </a:pPr>
            <a:r>
              <a:rPr lang="en-US" sz="3498" b="true">
                <a:solidFill>
                  <a:srgbClr val="2F3C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SOFTWARE ARCHITECTURE</a:t>
            </a:r>
          </a:p>
          <a:p>
            <a:pPr algn="l" marL="755310" indent="-377655" lvl="1">
              <a:lnSpc>
                <a:spcPts val="4897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Pattern: Model-View-Controller (MVC) derivative.</a:t>
            </a:r>
          </a:p>
          <a:p>
            <a:pPr algn="l" marL="755310" indent="-377655" lvl="1">
              <a:lnSpc>
                <a:spcPts val="4897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Logic Layer (astar_logic.py): Pure algorithmic functions; no UI dependencies.</a:t>
            </a:r>
          </a:p>
          <a:p>
            <a:pPr algn="l" marL="755310" indent="-377655" lvl="1">
              <a:lnSpc>
                <a:spcPts val="4897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Presentation Layer (main.py): Manages the GUI, event loop, and animation timing.</a:t>
            </a:r>
          </a:p>
          <a:p>
            <a:pPr algn="l">
              <a:lnSpc>
                <a:spcPts val="4897"/>
              </a:lnSpc>
              <a:spcBef>
                <a:spcPct val="0"/>
              </a:spcBef>
            </a:pPr>
            <a:r>
              <a:rPr lang="en-US" sz="3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Optimization Strategy: Decouples the "Solve" calculation from the "Replay" animation to ensure UI responsiveness.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151840" y="-8149"/>
            <a:ext cx="637786" cy="10303297"/>
            <a:chOff x="0" y="0"/>
            <a:chExt cx="167977" cy="27136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7977" cy="2713626"/>
            </a:xfrm>
            <a:custGeom>
              <a:avLst/>
              <a:gdLst/>
              <a:ahLst/>
              <a:cxnLst/>
              <a:rect r="r" b="b" t="t" l="l"/>
              <a:pathLst>
                <a:path h="2713626" w="167977">
                  <a:moveTo>
                    <a:pt x="0" y="0"/>
                  </a:moveTo>
                  <a:lnTo>
                    <a:pt x="167977" y="0"/>
                  </a:lnTo>
                  <a:lnTo>
                    <a:pt x="167977" y="2713626"/>
                  </a:lnTo>
                  <a:lnTo>
                    <a:pt x="0" y="2713626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7977" cy="2761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26390" y="2214579"/>
            <a:ext cx="604619" cy="608298"/>
            <a:chOff x="0" y="0"/>
            <a:chExt cx="159241" cy="1602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241" cy="160210"/>
            </a:xfrm>
            <a:custGeom>
              <a:avLst/>
              <a:gdLst/>
              <a:ahLst/>
              <a:cxnLst/>
              <a:rect r="r" b="b" t="t" l="l"/>
              <a:pathLst>
                <a:path h="160210" w="159241">
                  <a:moveTo>
                    <a:pt x="0" y="0"/>
                  </a:moveTo>
                  <a:lnTo>
                    <a:pt x="159241" y="0"/>
                  </a:lnTo>
                  <a:lnTo>
                    <a:pt x="159241" y="160210"/>
                  </a:lnTo>
                  <a:lnTo>
                    <a:pt x="0" y="160210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9241" cy="198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true" flipV="false" rot="0">
            <a:off x="13343832" y="380099"/>
            <a:ext cx="3295485" cy="2442778"/>
          </a:xfrm>
          <a:custGeom>
            <a:avLst/>
            <a:gdLst/>
            <a:ahLst/>
            <a:cxnLst/>
            <a:rect r="r" b="b" t="t" l="l"/>
            <a:pathLst>
              <a:path h="2442778" w="3295485">
                <a:moveTo>
                  <a:pt x="3295486" y="0"/>
                </a:moveTo>
                <a:lnTo>
                  <a:pt x="0" y="0"/>
                </a:lnTo>
                <a:lnTo>
                  <a:pt x="0" y="2442779"/>
                </a:lnTo>
                <a:lnTo>
                  <a:pt x="3295486" y="2442779"/>
                </a:lnTo>
                <a:lnTo>
                  <a:pt x="329548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16855" y="1902201"/>
            <a:ext cx="507111" cy="507111"/>
            <a:chOff x="0" y="0"/>
            <a:chExt cx="133560" cy="133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560" cy="133560"/>
            </a:xfrm>
            <a:custGeom>
              <a:avLst/>
              <a:gdLst/>
              <a:ahLst/>
              <a:cxnLst/>
              <a:rect r="r" b="b" t="t" l="l"/>
              <a:pathLst>
                <a:path h="133560" w="133560">
                  <a:moveTo>
                    <a:pt x="0" y="0"/>
                  </a:moveTo>
                  <a:lnTo>
                    <a:pt x="133560" y="0"/>
                  </a:lnTo>
                  <a:lnTo>
                    <a:pt x="133560" y="133560"/>
                  </a:lnTo>
                  <a:lnTo>
                    <a:pt x="0" y="133560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560" cy="171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481122" y="1826001"/>
            <a:ext cx="11778178" cy="655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3"/>
              </a:lnSpc>
            </a:pPr>
            <a:r>
              <a:rPr lang="en-US" sz="33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 SEMANTICS</a:t>
            </a:r>
          </a:p>
          <a:p>
            <a:pPr algn="l" marL="725358" indent="-362679" lvl="1">
              <a:lnSpc>
                <a:spcPts val="47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Black/White Pixels:</a:t>
            </a:r>
            <a:r>
              <a:rPr lang="en-US" sz="335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Binary W</a:t>
            </a:r>
            <a:r>
              <a:rPr lang="en-US" sz="335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ORLD (OBSTACLES VS. PATH).</a:t>
            </a:r>
          </a:p>
          <a:p>
            <a:pPr algn="l" marL="725358" indent="-362679" lvl="1">
              <a:lnSpc>
                <a:spcPts val="47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GREEN/RED MARKERS: </a:t>
            </a:r>
            <a:r>
              <a:rPr lang="en-US" sz="335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START AND GOAL STATES.</a:t>
            </a:r>
          </a:p>
          <a:p>
            <a:pPr algn="l" marL="725358" indent="-362679" lvl="1">
              <a:lnSpc>
                <a:spcPts val="47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BLUE REGION: </a:t>
            </a:r>
            <a:r>
              <a:rPr lang="en-US" sz="335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SEARCH SPACE (CLOSED SET). REPRESENTS COMPUTATIONAL EFFORT.</a:t>
            </a:r>
          </a:p>
          <a:p>
            <a:pPr algn="l" marL="725358" indent="-362679" lvl="1">
              <a:lnSpc>
                <a:spcPts val="4703"/>
              </a:lnSpc>
              <a:spcBef>
                <a:spcPct val="0"/>
              </a:spcBef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 LINE: THE SOLUTION. REPRESENTS THE OPTIMAL RESULT.</a:t>
            </a:r>
          </a:p>
          <a:p>
            <a:pPr algn="l" marL="725358" indent="-362679" lvl="1">
              <a:lnSpc>
                <a:spcPts val="47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INSIGHT: </a:t>
            </a:r>
            <a:r>
              <a:rPr lang="en-US" sz="335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LARGE BLUE AREAS INDICATE "LOCAL OPTIMA" TRAPS WHERE HEURISTICS FAIL.</a:t>
            </a:r>
          </a:p>
          <a:p>
            <a:pPr algn="l">
              <a:lnSpc>
                <a:spcPts val="4703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0" y="-8149"/>
            <a:ext cx="1028700" cy="10303297"/>
            <a:chOff x="0" y="0"/>
            <a:chExt cx="270933" cy="2713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13626"/>
            </a:xfrm>
            <a:custGeom>
              <a:avLst/>
              <a:gdLst/>
              <a:ahLst/>
              <a:cxnLst/>
              <a:rect r="r" b="b" t="t" l="l"/>
              <a:pathLst>
                <a:path h="271362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13626"/>
                  </a:lnTo>
                  <a:lnTo>
                    <a:pt x="0" y="2713626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0933" cy="2761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479195"/>
            <a:ext cx="422866" cy="244494"/>
          </a:xfrm>
          <a:custGeom>
            <a:avLst/>
            <a:gdLst/>
            <a:ahLst/>
            <a:cxnLst/>
            <a:rect r="r" b="b" t="t" l="l"/>
            <a:pathLst>
              <a:path h="244494" w="422866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063054" y="8723599"/>
            <a:ext cx="224946" cy="534701"/>
            <a:chOff x="0" y="0"/>
            <a:chExt cx="59245" cy="1408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245" cy="140827"/>
            </a:xfrm>
            <a:custGeom>
              <a:avLst/>
              <a:gdLst/>
              <a:ahLst/>
              <a:cxnLst/>
              <a:rect r="r" b="b" t="t" l="l"/>
              <a:pathLst>
                <a:path h="140827" w="59245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9245" cy="18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37001" y="0"/>
            <a:ext cx="2611348" cy="10303297"/>
            <a:chOff x="0" y="0"/>
            <a:chExt cx="687763" cy="27136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7763" cy="2713626"/>
            </a:xfrm>
            <a:custGeom>
              <a:avLst/>
              <a:gdLst/>
              <a:ahLst/>
              <a:cxnLst/>
              <a:rect r="r" b="b" t="t" l="l"/>
              <a:pathLst>
                <a:path h="2713626" w="687763">
                  <a:moveTo>
                    <a:pt x="0" y="0"/>
                  </a:moveTo>
                  <a:lnTo>
                    <a:pt x="687763" y="0"/>
                  </a:lnTo>
                  <a:lnTo>
                    <a:pt x="687763" y="2713626"/>
                  </a:lnTo>
                  <a:lnTo>
                    <a:pt x="0" y="2713626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87763" cy="2761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063054" y="8188899"/>
            <a:ext cx="224946" cy="534701"/>
            <a:chOff x="0" y="0"/>
            <a:chExt cx="59245" cy="1408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245" cy="140827"/>
            </a:xfrm>
            <a:custGeom>
              <a:avLst/>
              <a:gdLst/>
              <a:ahLst/>
              <a:cxnLst/>
              <a:rect r="r" b="b" t="t" l="l"/>
              <a:pathLst>
                <a:path h="140827" w="59245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9245" cy="18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79597" y="6697934"/>
            <a:ext cx="8733112" cy="400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6"/>
              </a:lnSpc>
              <a:spcBef>
                <a:spcPct val="0"/>
              </a:spcBef>
            </a:pPr>
            <a:r>
              <a:rPr lang="en-US" sz="28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833">
                <a:solidFill>
                  <a:srgbClr val="2F3C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2833">
                <a:solidFill>
                  <a:srgbClr val="2F3C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ONCLUSION </a:t>
            </a:r>
          </a:p>
          <a:p>
            <a:pPr algn="l" marL="611674" indent="-305837" lvl="1">
              <a:lnSpc>
                <a:spcPts val="3966"/>
              </a:lnSpc>
              <a:spcBef>
                <a:spcPct val="0"/>
              </a:spcBef>
              <a:buFont typeface="Arial"/>
              <a:buChar char="•"/>
            </a:pPr>
            <a:r>
              <a:rPr lang="en-US" sz="28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SUMMARY: SUCCESSFULLY BRIDGES THEORY AND PRACTICE THROUGH INTERACTIVE VISUALIZATION.</a:t>
            </a:r>
          </a:p>
          <a:p>
            <a:pPr algn="l" marL="611674" indent="-305837" lvl="1">
              <a:lnSpc>
                <a:spcPts val="3966"/>
              </a:lnSpc>
              <a:spcBef>
                <a:spcPct val="0"/>
              </a:spcBef>
              <a:buFont typeface="Arial"/>
              <a:buChar char="•"/>
            </a:pPr>
            <a:r>
              <a:rPr lang="en-US" sz="28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CURRENT CAPABILITIES: STATIC 2D GRID SOLVING WITH VARIABLE OBSTACLES.</a:t>
            </a:r>
          </a:p>
          <a:p>
            <a:pPr algn="l">
              <a:lnSpc>
                <a:spcPts val="3966"/>
              </a:lnSpc>
              <a:spcBef>
                <a:spcPct val="0"/>
              </a:spcBef>
            </a:pPr>
          </a:p>
          <a:p>
            <a:pPr algn="l">
              <a:lnSpc>
                <a:spcPts val="396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20131" y="1498038"/>
            <a:ext cx="4771649" cy="48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  <a:spcBef>
                <a:spcPct val="0"/>
              </a:spcBef>
            </a:pPr>
            <a:r>
              <a:rPr lang="en-US" b="true" sz="2804">
                <a:solidFill>
                  <a:srgbClr val="2F3C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FUT</a:t>
            </a:r>
            <a:r>
              <a:rPr lang="en-US" b="true" sz="2804">
                <a:solidFill>
                  <a:srgbClr val="2F3C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URE SCOPE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9326" y="2253728"/>
            <a:ext cx="8007179" cy="394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512" indent="-302756" lvl="1">
              <a:lnSpc>
                <a:spcPts val="3926"/>
              </a:lnSpc>
              <a:buFont typeface="Arial"/>
              <a:buChar char="•"/>
            </a:pPr>
            <a:r>
              <a:rPr lang="en-US" b="true" sz="280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EXTENSIONS:</a:t>
            </a:r>
          </a:p>
          <a:p>
            <a:pPr algn="l" marL="605512" indent="-302756" lvl="1">
              <a:lnSpc>
                <a:spcPts val="3926"/>
              </a:lnSpc>
              <a:buFont typeface="Arial"/>
              <a:buChar char="•"/>
            </a:pPr>
            <a:r>
              <a:rPr lang="en-US" b="true" sz="280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Weighted Terrain:</a:t>
            </a:r>
            <a:r>
              <a:rPr lang="en-US" sz="28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Variable traversal costs (e.g., swamp vs. road).</a:t>
            </a:r>
          </a:p>
          <a:p>
            <a:pPr algn="l" marL="605512" indent="-302756" lvl="1">
              <a:lnSpc>
                <a:spcPts val="3926"/>
              </a:lnSpc>
              <a:buFont typeface="Arial"/>
              <a:buChar char="•"/>
            </a:pPr>
            <a:r>
              <a:rPr lang="en-US" b="true" sz="280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Replanning:</a:t>
            </a:r>
            <a:r>
              <a:rPr lang="en-US" sz="28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D* Lite for moving targets.</a:t>
            </a:r>
          </a:p>
          <a:p>
            <a:pPr algn="l" marL="605512" indent="-302756" lvl="1">
              <a:lnSpc>
                <a:spcPts val="392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3D Expansion:</a:t>
            </a:r>
            <a:r>
              <a:rPr lang="en-US" sz="28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Voxel-based pathfinding for aerial agents.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063054" y="8723599"/>
            <a:ext cx="224946" cy="534701"/>
            <a:chOff x="0" y="0"/>
            <a:chExt cx="59245" cy="140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245" cy="140827"/>
            </a:xfrm>
            <a:custGeom>
              <a:avLst/>
              <a:gdLst/>
              <a:ahLst/>
              <a:cxnLst/>
              <a:rect r="r" b="b" t="t" l="l"/>
              <a:pathLst>
                <a:path h="140827" w="59245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9245" cy="18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63054" y="8188899"/>
            <a:ext cx="224946" cy="534701"/>
            <a:chOff x="0" y="0"/>
            <a:chExt cx="59245" cy="1408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245" cy="140827"/>
            </a:xfrm>
            <a:custGeom>
              <a:avLst/>
              <a:gdLst/>
              <a:ahLst/>
              <a:cxnLst/>
              <a:rect r="r" b="b" t="t" l="l"/>
              <a:pathLst>
                <a:path h="140827" w="59245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9245" cy="18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30108" y="1028700"/>
            <a:ext cx="12729192" cy="8229600"/>
            <a:chOff x="0" y="0"/>
            <a:chExt cx="16972256" cy="10972800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4"/>
            <a:srcRect l="0" t="0" r="0" b="2779"/>
            <a:stretch>
              <a:fillRect/>
            </a:stretch>
          </p:blipFill>
          <p:spPr>
            <a:xfrm flipH="true" flipV="false">
              <a:off x="0" y="0"/>
              <a:ext cx="16972256" cy="10972800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0" y="1028700"/>
            <a:ext cx="4530108" cy="8229600"/>
            <a:chOff x="0" y="0"/>
            <a:chExt cx="1193115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3115" cy="2167467"/>
            </a:xfrm>
            <a:custGeom>
              <a:avLst/>
              <a:gdLst/>
              <a:ahLst/>
              <a:cxnLst/>
              <a:rect r="r" b="b" t="t" l="l"/>
              <a:pathLst>
                <a:path h="2167467" w="1193115">
                  <a:moveTo>
                    <a:pt x="0" y="0"/>
                  </a:moveTo>
                  <a:lnTo>
                    <a:pt x="1193115" y="0"/>
                  </a:lnTo>
                  <a:lnTo>
                    <a:pt x="11931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193115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15285" y="3805301"/>
            <a:ext cx="12085285" cy="3819729"/>
            <a:chOff x="0" y="0"/>
            <a:chExt cx="3182956" cy="10060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82956" cy="1006019"/>
            </a:xfrm>
            <a:custGeom>
              <a:avLst/>
              <a:gdLst/>
              <a:ahLst/>
              <a:cxnLst/>
              <a:rect r="r" b="b" t="t" l="l"/>
              <a:pathLst>
                <a:path h="1006019" w="3182956">
                  <a:moveTo>
                    <a:pt x="0" y="0"/>
                  </a:moveTo>
                  <a:lnTo>
                    <a:pt x="3182956" y="0"/>
                  </a:lnTo>
                  <a:lnTo>
                    <a:pt x="3182956" y="1006019"/>
                  </a:lnTo>
                  <a:lnTo>
                    <a:pt x="0" y="10060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182956" cy="1053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579504" y="4682066"/>
            <a:ext cx="10229895" cy="155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91"/>
              </a:lnSpc>
              <a:spcBef>
                <a:spcPct val="0"/>
              </a:spcBef>
            </a:pPr>
            <a:r>
              <a:rPr lang="en-US" sz="9136">
                <a:solidFill>
                  <a:srgbClr val="2F3C81"/>
                </a:solidFill>
                <a:latin typeface="Canva Sans"/>
                <a:ea typeface="Canva Sans"/>
                <a:cs typeface="Canva Sans"/>
                <a:sym typeface="Canva Sans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DAG7ecsmKcI</dc:identifier>
  <dcterms:modified xsi:type="dcterms:W3CDTF">2011-08-01T06:04:30Z</dcterms:modified>
  <cp:revision>1</cp:revision>
  <dc:title>CSE 440 Presentation</dc:title>
</cp:coreProperties>
</file>